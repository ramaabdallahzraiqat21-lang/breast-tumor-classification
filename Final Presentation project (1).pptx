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78" r:id="rId2"/>
    <p:sldId id="258" r:id="rId3"/>
    <p:sldId id="259" r:id="rId4"/>
    <p:sldId id="260" r:id="rId5"/>
    <p:sldId id="267" r:id="rId6"/>
    <p:sldId id="274" r:id="rId7"/>
    <p:sldId id="275" r:id="rId8"/>
    <p:sldId id="261" r:id="rId9"/>
    <p:sldId id="263" r:id="rId10"/>
    <p:sldId id="264" r:id="rId11"/>
    <p:sldId id="266" r:id="rId12"/>
    <p:sldId id="265" r:id="rId13"/>
    <p:sldId id="272" r:id="rId14"/>
    <p:sldId id="273" r:id="rId15"/>
    <p:sldId id="271" r:id="rId16"/>
    <p:sldId id="270" r:id="rId17"/>
    <p:sldId id="276" r:id="rId18"/>
    <p:sldId id="27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36ED1-53CA-4F0B-B199-D6998548255F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80017-65D8-49F6-AC33-564561196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273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36ED1-53CA-4F0B-B199-D6998548255F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80017-65D8-49F6-AC33-564561196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379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36ED1-53CA-4F0B-B199-D6998548255F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80017-65D8-49F6-AC33-564561196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017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36ED1-53CA-4F0B-B199-D6998548255F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80017-65D8-49F6-AC33-564561196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922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36ED1-53CA-4F0B-B199-D6998548255F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80017-65D8-49F6-AC33-564561196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49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36ED1-53CA-4F0B-B199-D6998548255F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80017-65D8-49F6-AC33-564561196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838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36ED1-53CA-4F0B-B199-D6998548255F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80017-65D8-49F6-AC33-564561196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850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36ED1-53CA-4F0B-B199-D6998548255F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80017-65D8-49F6-AC33-564561196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03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36ED1-53CA-4F0B-B199-D6998548255F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80017-65D8-49F6-AC33-564561196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817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36ED1-53CA-4F0B-B199-D6998548255F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80017-65D8-49F6-AC33-564561196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143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36ED1-53CA-4F0B-B199-D6998548255F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80017-65D8-49F6-AC33-564561196561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6361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36ED1-53CA-4F0B-B199-D6998548255F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80017-65D8-49F6-AC33-564561196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112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36ED1-53CA-4F0B-B199-D6998548255F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80017-65D8-49F6-AC33-564561196561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502876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36ED1-53CA-4F0B-B199-D6998548255F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80017-65D8-49F6-AC33-564561196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4864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36ED1-53CA-4F0B-B199-D6998548255F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80017-65D8-49F6-AC33-564561196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3914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36ED1-53CA-4F0B-B199-D6998548255F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80017-65D8-49F6-AC33-564561196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743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936ED1-53CA-4F0B-B199-D6998548255F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D180017-65D8-49F6-AC33-564561196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98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E22D7-9C87-EE84-90FC-9107DA5AFA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9476" y="0"/>
            <a:ext cx="8498596" cy="3483747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Intelligent System for Breast Tumor Diagnosis Based on Clinical Features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E2C93-E1E9-431D-DC23-E3DFC2F4A7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356909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US" sz="6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Students Names:</a:t>
            </a:r>
          </a:p>
          <a:p>
            <a:pPr algn="l"/>
            <a:r>
              <a:rPr lang="en-US" sz="6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Rama Zraiqat             2019978110</a:t>
            </a:r>
          </a:p>
          <a:p>
            <a:pPr algn="l"/>
            <a:r>
              <a:rPr lang="en-US" sz="6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Ahlam bani Abdoh     2017977002</a:t>
            </a:r>
          </a:p>
          <a:p>
            <a:pPr algn="l"/>
            <a:r>
              <a:rPr lang="en-US" sz="6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Manal </a:t>
            </a:r>
            <a:r>
              <a:rPr lang="en-US" sz="6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Toubat</a:t>
            </a:r>
            <a:r>
              <a:rPr lang="en-US" sz="6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2020978146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815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D9272-F366-3B05-0214-C1EA338AA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19545-294E-7476-839E-39E304B06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242" y="440626"/>
            <a:ext cx="8534400" cy="1507067"/>
          </a:xfrm>
        </p:spPr>
        <p:txBody>
          <a:bodyPr>
            <a:normAutofit fontScale="90000"/>
          </a:bodyPr>
          <a:lstStyle/>
          <a:p>
            <a:pPr>
              <a:spcAft>
                <a:spcPts val="1875"/>
              </a:spcAft>
            </a:pPr>
            <a:r>
              <a:rPr lang="en-US" b="1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Problem Statement &amp; Motivation</a:t>
            </a:r>
            <a:br>
              <a:rPr lang="en-US" b="1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1512F-349E-915A-70DA-09DCF52CB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752" y="1799618"/>
            <a:ext cx="8534400" cy="4544258"/>
          </a:xfrm>
        </p:spPr>
        <p:txBody>
          <a:bodyPr>
            <a:normAutofit/>
          </a:bodyPr>
          <a:lstStyle/>
          <a:p>
            <a:pPr algn="l">
              <a:spcAft>
                <a:spcPts val="1500"/>
              </a:spcAft>
              <a:buNone/>
            </a:pPr>
            <a:r>
              <a:rPr lang="en-US" b="1" i="0" dirty="0">
                <a:solidFill>
                  <a:srgbClr val="2980B9"/>
                </a:solidFill>
                <a:effectLst/>
                <a:latin typeface="Arial" panose="020B0604020202020204" pitchFamily="34" charset="0"/>
              </a:rPr>
              <a:t>🎯 Objective</a:t>
            </a:r>
          </a:p>
          <a:p>
            <a:pPr algn="l">
              <a:spcAft>
                <a:spcPts val="1125"/>
              </a:spcAft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Develop an accurate machine learning model to classify breast cancer tumors as benign or malignant based on cellular characteristics.</a:t>
            </a:r>
          </a:p>
          <a:p>
            <a:pPr algn="l">
              <a:spcAft>
                <a:spcPts val="1500"/>
              </a:spcAft>
              <a:buNone/>
            </a:pPr>
            <a:r>
              <a:rPr lang="en-US" b="1" i="0" dirty="0">
                <a:solidFill>
                  <a:srgbClr val="2980B9"/>
                </a:solidFill>
                <a:effectLst/>
                <a:latin typeface="Arial" panose="020B0604020202020204" pitchFamily="34" charset="0"/>
              </a:rPr>
              <a:t>📊 Why This Matters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Breast cancer is one of the most common cancers affecting women worldwide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Early detection significantly improves survival rates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Machine learning can assist medical professionals in diagnosis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Automated classification can reduce diagnostic time and human error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152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7C114-7EED-E87A-436B-13EEAD4F8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406DD-0725-5E9F-C2F9-C32509F26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242" y="440626"/>
            <a:ext cx="8534400" cy="1507067"/>
          </a:xfrm>
        </p:spPr>
        <p:txBody>
          <a:bodyPr>
            <a:normAutofit fontScale="90000"/>
          </a:bodyPr>
          <a:lstStyle/>
          <a:p>
            <a:pPr algn="ctr">
              <a:spcAft>
                <a:spcPts val="1875"/>
              </a:spcAft>
              <a:buNone/>
            </a:pPr>
            <a:r>
              <a:rPr lang="en-US" b="1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Dataset Overview</a:t>
            </a:r>
            <a:br>
              <a:rPr lang="en-US" b="1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9CFC7-1383-C2A8-C270-A8A687D33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792" y="2638179"/>
            <a:ext cx="8534400" cy="4544258"/>
          </a:xfrm>
        </p:spPr>
        <p:txBody>
          <a:bodyPr>
            <a:normAutofit/>
          </a:bodyPr>
          <a:lstStyle/>
          <a:p>
            <a:pPr algn="l">
              <a:spcAft>
                <a:spcPts val="1500"/>
              </a:spcAft>
              <a:buNone/>
            </a:pPr>
            <a:r>
              <a:rPr lang="en-US" b="1" i="0" dirty="0">
                <a:solidFill>
                  <a:srgbClr val="2980B9"/>
                </a:solidFill>
                <a:effectLst/>
                <a:latin typeface="Arial" panose="020B0604020202020204" pitchFamily="34" charset="0"/>
              </a:rPr>
              <a:t>📋 Dataset Source</a:t>
            </a:r>
          </a:p>
          <a:p>
            <a:pPr algn="l">
              <a:spcAft>
                <a:spcPts val="1125"/>
              </a:spcAft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Wisconsin Breast Cancer Database - containing cellular measurements from fine needle aspirate (FNA) of breast masses.</a:t>
            </a:r>
          </a:p>
          <a:p>
            <a:pPr algn="l">
              <a:spcAft>
                <a:spcPts val="1500"/>
              </a:spcAft>
              <a:buNone/>
            </a:pPr>
            <a:r>
              <a:rPr lang="en-US" b="1" i="0" dirty="0">
                <a:solidFill>
                  <a:srgbClr val="2980B9"/>
                </a:solidFill>
                <a:effectLst/>
                <a:latin typeface="Arial" panose="020B0604020202020204" pitchFamily="34" charset="0"/>
              </a:rPr>
              <a:t>🔍 Target Classes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Benign (Class 2):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Non-cancerous tumors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Malignant (Class 4):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Cancerous tumors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2306F9-4387-A243-9684-0AC1E87F9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807" y="1023330"/>
            <a:ext cx="5686425" cy="155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971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75B98-CD62-CE36-033E-56F245E08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E0D5B-106B-B971-1A4C-3FEA1E8C0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1" y="187707"/>
            <a:ext cx="9967642" cy="1507067"/>
          </a:xfrm>
        </p:spPr>
        <p:txBody>
          <a:bodyPr>
            <a:normAutofit fontScale="90000"/>
          </a:bodyPr>
          <a:lstStyle/>
          <a:p>
            <a:pPr>
              <a:spcAft>
                <a:spcPts val="2250"/>
              </a:spcAft>
              <a:buNone/>
            </a:pPr>
            <a:r>
              <a:rPr lang="en-US" b="1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						Feature Description</a:t>
            </a:r>
            <a:r>
              <a:rPr lang="en-US" dirty="0"/>
              <a:t/>
            </a:r>
            <a:br>
              <a:rPr lang="en-US" dirty="0"/>
            </a:br>
            <a:r>
              <a:rPr lang="en-US" sz="31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Each feature is scored on a scale of 1-10, where higher values generally indicate higher malignancy risk.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433F33-49DD-F952-F521-B84DA8DF2A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2322" y="2126868"/>
            <a:ext cx="4840522" cy="4543425"/>
          </a:xfrm>
        </p:spPr>
      </p:pic>
    </p:spTree>
    <p:extLst>
      <p:ext uri="{BB962C8B-B14F-4D97-AF65-F5344CB8AC3E}">
        <p14:creationId xmlns:p14="http://schemas.microsoft.com/office/powerpoint/2010/main" val="3506380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395F3-F168-E117-72C6-19E5B2FD1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BC799-1CA1-C27A-EC39-2A9EF5510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E9BF7D-73A9-8A92-00D0-141E7290F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3675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150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5E049-1A2F-DF52-AC37-F3A63F27A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EE6B0-2721-5B91-C30C-5AF09DCED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242" y="440626"/>
            <a:ext cx="8534400" cy="1507067"/>
          </a:xfrm>
        </p:spPr>
        <p:txBody>
          <a:bodyPr>
            <a:normAutofit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🛠️ Implementation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AA34FB-4659-2EEE-9EC0-399FD78BC1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4021" y="1947693"/>
            <a:ext cx="984436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Google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Colab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Libraries Used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pandas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numpy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matplotlib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seaborn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scikit-learn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Workflow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loading and cleaning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Exploratory Data Analysis (EDA)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selection and correlation handling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Train-test split (80:20)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training: Logistic Regression,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XGboost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Decision Tree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evaluation using accuracy, precision, recall, F1-score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438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68205-1237-E4F4-6D7B-510D4D2C9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BA488-8801-1817-05B8-FA9AA1791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242" y="440626"/>
            <a:ext cx="8534400" cy="1507067"/>
          </a:xfrm>
        </p:spPr>
        <p:txBody>
          <a:bodyPr>
            <a:normAutofit/>
          </a:bodyPr>
          <a:lstStyle/>
          <a:p>
            <a:r>
              <a:rPr lang="en-US" b="1" dirty="0"/>
              <a:t>⚠️ Challenges and Limitations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C4C4775-AC19-5581-2A1B-63F50EB0DC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2375" y="1315328"/>
            <a:ext cx="990275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Data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‘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BareNuc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’ column contained missing entries (‘?’), requiring imputation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Imbalanced Dataset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Minor class imbalance slightly affected performance; SMOTE or similar techniques were not applied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Multicollinearity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High correlation between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UnifSize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UnifShape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—needed dimensionality reduction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Feature Set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Only 10 predictive features; richer datasets may improve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Models trained on a small dataset (699 samples)—generalizability to larger clinical datasets needs further validation</a:t>
            </a:r>
          </a:p>
        </p:txBody>
      </p:sp>
    </p:spTree>
    <p:extLst>
      <p:ext uri="{BB962C8B-B14F-4D97-AF65-F5344CB8AC3E}">
        <p14:creationId xmlns:p14="http://schemas.microsoft.com/office/powerpoint/2010/main" val="4278369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21955-5603-2C1E-341B-E709AE975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96890-E577-B3E8-F3E9-87F02839D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242" y="440626"/>
            <a:ext cx="8534400" cy="1507067"/>
          </a:xfrm>
        </p:spPr>
        <p:txBody>
          <a:bodyPr>
            <a:normAutofit/>
          </a:bodyPr>
          <a:lstStyle/>
          <a:p>
            <a:pPr algn="ctr">
              <a:spcAft>
                <a:spcPts val="1875"/>
              </a:spcAft>
            </a:pPr>
            <a:r>
              <a:rPr lang="en-US" b="1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DC18F-8C33-E382-B2B4-8ADB6A04A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752" y="1799618"/>
            <a:ext cx="8534400" cy="4544258"/>
          </a:xfrm>
        </p:spPr>
        <p:txBody>
          <a:bodyPr>
            <a:normAutofit/>
          </a:bodyPr>
          <a:lstStyle/>
          <a:p>
            <a:pPr algn="l">
              <a:spcAft>
                <a:spcPts val="1500"/>
              </a:spcAft>
              <a:buNone/>
            </a:pPr>
            <a:r>
              <a:rPr lang="en-US" b="1" i="0" dirty="0">
                <a:solidFill>
                  <a:srgbClr val="2980B9"/>
                </a:solidFill>
                <a:effectLst/>
                <a:latin typeface="Arial" panose="020B0604020202020204" pitchFamily="34" charset="0"/>
              </a:rPr>
              <a:t>🔍 Key Findings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Dataset Shape: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699 samples × 11 features (including ID)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Missing Values: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Found in '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BareNuc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' column (marked as '?')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Data Types: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Mixed numeric and object types requiring conversion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AB65A2-7D73-54E7-71C0-321DCF342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995" y="4281791"/>
            <a:ext cx="6448425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249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EFD99-FDB7-0690-B69A-40820AF4E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29F66-D9FE-E2C3-187E-10B93193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242" y="440626"/>
            <a:ext cx="8534400" cy="1507067"/>
          </a:xfrm>
        </p:spPr>
        <p:txBody>
          <a:bodyPr>
            <a:normAutofit fontScale="90000"/>
          </a:bodyPr>
          <a:lstStyle/>
          <a:p>
            <a:pPr algn="ctr">
              <a:spcAft>
                <a:spcPts val="1875"/>
              </a:spcAft>
              <a:buNone/>
            </a:pPr>
            <a:r>
              <a:rPr lang="en-US" b="1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Data Preprocessing</a:t>
            </a:r>
            <a:br>
              <a:rPr lang="en-US" b="1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US" b="0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ACDCD-ACAD-8635-0999-0FEE62B77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752" y="1799618"/>
            <a:ext cx="8534400" cy="4544258"/>
          </a:xfrm>
        </p:spPr>
        <p:txBody>
          <a:bodyPr>
            <a:normAutofit lnSpcReduction="10000"/>
          </a:bodyPr>
          <a:lstStyle/>
          <a:p>
            <a:pPr algn="ctr">
              <a:spcBef>
                <a:spcPts val="750"/>
              </a:spcBef>
              <a:spcAft>
                <a:spcPts val="1500"/>
              </a:spcAft>
              <a:buNone/>
            </a:pPr>
            <a:r>
              <a:rPr lang="en-US" b="1" i="0" dirty="0">
                <a:solidFill>
                  <a:srgbClr val="2980B9"/>
                </a:solidFill>
                <a:effectLst/>
                <a:latin typeface="Arial" panose="020B0604020202020204" pitchFamily="34" charset="0"/>
              </a:rPr>
              <a:t>🎯 1. Missing Value Treatment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Identified '?' values in '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BareNuc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' column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Converted to numeric format using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pd.to_numeric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()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Imputed missing values with median (value = 1)</a:t>
            </a:r>
          </a:p>
          <a:p>
            <a:pPr algn="ctr">
              <a:spcBef>
                <a:spcPts val="750"/>
              </a:spcBef>
              <a:spcAft>
                <a:spcPts val="1500"/>
              </a:spcAft>
              <a:buNone/>
            </a:pPr>
            <a:r>
              <a:rPr lang="en-US" b="1" i="0" dirty="0">
                <a:solidFill>
                  <a:srgbClr val="2980B9"/>
                </a:solidFill>
                <a:effectLst/>
                <a:latin typeface="Arial" panose="020B0604020202020204" pitchFamily="34" charset="0"/>
              </a:rPr>
              <a:t>🎯  2. Feature Selection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Removed 'ID' column (no predictive value)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Dropped '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UnifShape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' due to high correlation with '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UnifSize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' (r &gt; 0.9)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Addressed multicollinearity issues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041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C8F73-C6AA-8436-67B2-C70A1D08E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1C517-0F9C-2CA5-FF52-03F598B9F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242" y="440626"/>
            <a:ext cx="8534400" cy="1507067"/>
          </a:xfrm>
        </p:spPr>
        <p:txBody>
          <a:bodyPr>
            <a:normAutofit fontScale="90000"/>
          </a:bodyPr>
          <a:lstStyle/>
          <a:p>
            <a:pPr algn="ctr">
              <a:spcAft>
                <a:spcPts val="1875"/>
              </a:spcAft>
              <a:buNone/>
            </a:pPr>
            <a:r>
              <a:rPr lang="en-US" b="1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Correlation Analysis</a:t>
            </a:r>
            <a:br>
              <a:rPr lang="en-US" b="1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129B2-C9D1-1B9E-90A1-ED73DE131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3400" y="2701226"/>
            <a:ext cx="4484260" cy="3642650"/>
          </a:xfrm>
        </p:spPr>
        <p:txBody>
          <a:bodyPr>
            <a:normAutofit/>
          </a:bodyPr>
          <a:lstStyle/>
          <a:p>
            <a:pPr algn="l">
              <a:spcAft>
                <a:spcPts val="1500"/>
              </a:spcAft>
              <a:buNone/>
            </a:pPr>
            <a:r>
              <a:rPr lang="en-US" b="1" i="0" dirty="0">
                <a:solidFill>
                  <a:srgbClr val="2980B9"/>
                </a:solidFill>
                <a:effectLst/>
                <a:latin typeface="Arial" panose="020B0604020202020204" pitchFamily="34" charset="0"/>
              </a:rPr>
              <a:t>🎯 Impact on Model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Multicollinearity Issue: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UnifSize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UnifShape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were highly correlated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Solution: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Removed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UnifShape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to prevent model instability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Feature Importance: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Several features show strong correlation with target class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9B1C2A-A493-087A-2AA3-588F9B46D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4159"/>
            <a:ext cx="5243401" cy="348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143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92298-96F9-705B-AF72-B233CD4CD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0C1B-7BD0-59E7-89A0-0F7779464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242" y="440626"/>
            <a:ext cx="8534400" cy="1507067"/>
          </a:xfrm>
        </p:spPr>
        <p:txBody>
          <a:bodyPr>
            <a:normAutofit/>
          </a:bodyPr>
          <a:lstStyle/>
          <a:p>
            <a:pPr>
              <a:spcAft>
                <a:spcPts val="1875"/>
              </a:spcAft>
            </a:pPr>
            <a:r>
              <a:rPr lang="en-US" b="1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Imbalance Classes Distribution</a:t>
            </a:r>
            <a:endParaRPr lang="en-US" dirty="0"/>
          </a:p>
        </p:txBody>
      </p:sp>
      <p:pic>
        <p:nvPicPr>
          <p:cNvPr id="4" name="Picture 3" descr="A graph showing a number of different colored squares&#10;&#10;AI-generated content may be incorrect.">
            <a:extLst>
              <a:ext uri="{FF2B5EF4-FFF2-40B4-BE49-F238E27FC236}">
                <a16:creationId xmlns:a16="http://schemas.microsoft.com/office/drawing/2014/main" id="{4F7D593F-E338-5F93-BD2A-E84B3005E5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1441" y="1053856"/>
            <a:ext cx="5750560" cy="4527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Content Placeholder 4" descr="A graph of a distribution of breast cancer classes&#10;&#10;AI-generated content may be incorrect.">
            <a:extLst>
              <a:ext uri="{FF2B5EF4-FFF2-40B4-BE49-F238E27FC236}">
                <a16:creationId xmlns:a16="http://schemas.microsoft.com/office/drawing/2014/main" id="{EEF3A788-F2BD-9A9B-63D1-06752FB9A8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2282" y="1142365"/>
            <a:ext cx="6341002" cy="45135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4706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874C8-0A04-25A3-B346-EB865722C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DD2F1-F722-D873-0476-4CDFDF14B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3603" y="326761"/>
            <a:ext cx="3262042" cy="1507067"/>
          </a:xfrm>
        </p:spPr>
        <p:txBody>
          <a:bodyPr>
            <a:normAutofit fontScale="90000"/>
          </a:bodyPr>
          <a:lstStyle/>
          <a:p>
            <a:pPr>
              <a:spcAft>
                <a:spcPts val="1875"/>
              </a:spcAft>
            </a:pPr>
            <a:r>
              <a:rPr lang="en-US" b="1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Model Training &amp; Evaluation Process</a:t>
            </a:r>
            <a:br>
              <a:rPr lang="en-US" b="1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E4A3800-5445-727C-6E5E-E048C53BD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793" y="0"/>
            <a:ext cx="4275453" cy="6858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7DA0756-BEC1-9CAB-70EB-C4EBEEAA2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2483485"/>
            <a:ext cx="1828800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470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5AFEA-4C7D-0F04-8FA0-63F84E4E8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B7352-CF74-9D1D-213C-4965ECD13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242" y="440626"/>
            <a:ext cx="8534400" cy="1507067"/>
          </a:xfrm>
        </p:spPr>
        <p:txBody>
          <a:bodyPr>
            <a:normAutofit/>
          </a:bodyPr>
          <a:lstStyle/>
          <a:p>
            <a:pPr>
              <a:spcAft>
                <a:spcPts val="1875"/>
              </a:spcAft>
            </a:pPr>
            <a:r>
              <a:rPr lang="en-US" dirty="0"/>
              <a:t>Confusion Matrix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EDEBBDE-ED14-29FD-EC91-E8C5209E8E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8280" y="2160588"/>
            <a:ext cx="8295477" cy="3881437"/>
          </a:xfrm>
        </p:spPr>
      </p:pic>
    </p:spTree>
    <p:extLst>
      <p:ext uri="{BB962C8B-B14F-4D97-AF65-F5344CB8AC3E}">
        <p14:creationId xmlns:p14="http://schemas.microsoft.com/office/powerpoint/2010/main" val="2361098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018EE-B323-E7FC-756A-A76C21CED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9B959-185D-CC4F-0D36-11EE0E28F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DBF82593-9F4F-0702-7B85-694AFFE6D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41832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>
            <a:extLst>
              <a:ext uri="{FF2B5EF4-FFF2-40B4-BE49-F238E27FC236}">
                <a16:creationId xmlns:a16="http://schemas.microsoft.com/office/drawing/2014/main" id="{24D028A4-7199-F152-6F2B-299C2C156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5030" y="3881119"/>
            <a:ext cx="4468972" cy="2976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2323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5EADB-1AF3-8335-4A2B-859FF2D1C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6596029-2004-6849-BC4E-2EAB20DE5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spcAft>
                <a:spcPts val="1875"/>
              </a:spcAft>
            </a:pPr>
            <a:r>
              <a:rPr lang="en-US" b="1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				Models Performance Results</a:t>
            </a:r>
            <a:br>
              <a:rPr lang="en-US" b="1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39DD77-C677-3072-D77C-6009C4C84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077" y="1876425"/>
            <a:ext cx="7781925" cy="310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0048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E9D5A-B066-2150-FA47-0F46280F4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FD5329F-C515-46E0-C113-75E86DCF8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spcAft>
                <a:spcPts val="1875"/>
              </a:spcAft>
            </a:pPr>
            <a:r>
              <a:rPr lang="en-US" b="1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				Models Performance Results</a:t>
            </a:r>
            <a:br>
              <a:rPr lang="en-US" b="1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1A6F2B34-1F30-893C-CB5F-DC423D9DB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521" y="0"/>
            <a:ext cx="73580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4358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99D37-E3D0-AE20-055A-679CA29F6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60F55-9A61-3F31-CD40-D37A8DC85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330" y="391988"/>
            <a:ext cx="8534400" cy="1507067"/>
          </a:xfrm>
        </p:spPr>
        <p:txBody>
          <a:bodyPr>
            <a:normAutofit/>
          </a:bodyPr>
          <a:lstStyle/>
          <a:p>
            <a:r>
              <a:rPr lang="en-US" b="1" dirty="0"/>
              <a:t>🔮 Future Work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ED0F477-0D58-9908-DEF3-DA0B816A73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2571" y="1453234"/>
            <a:ext cx="887216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Optimization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Explore more models methods (Random Forest, Neural Network)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 Imbalance Handling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different oversampling techniques such as SMOTE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Models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Incorporate Deep Learning models (e.g., ANN)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Deployment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web-based diagnostic tool for clinicians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Larger Dataset Integration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Validate model on real-world, multi-center datasets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1732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610B3-9256-6FFB-A80B-47B37F71A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12A6B-B790-9FC3-07F4-B41B78B85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330" y="391988"/>
            <a:ext cx="8534400" cy="1507067"/>
          </a:xfrm>
        </p:spPr>
        <p:txBody>
          <a:bodyPr>
            <a:normAutofit/>
          </a:bodyPr>
          <a:lstStyle/>
          <a:p>
            <a:r>
              <a:rPr lang="en-US" b="1" dirty="0"/>
              <a:t>✅ Conclusion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22F0F4D-8051-AE4E-318A-3CB8E3B421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2301" y="1822718"/>
            <a:ext cx="874543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a machine learning pipeline to classify breast cancer as benign or malignant with solid performance across models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handled data cleaning, preprocessing, and feature selection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 model achieved promising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Study highlights the potential of AI in supporting early breast cancer diagnosis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enhancements can further improve model accuracy and clinical usability</a:t>
            </a:r>
          </a:p>
        </p:txBody>
      </p:sp>
    </p:spTree>
    <p:extLst>
      <p:ext uri="{BB962C8B-B14F-4D97-AF65-F5344CB8AC3E}">
        <p14:creationId xmlns:p14="http://schemas.microsoft.com/office/powerpoint/2010/main" val="194506253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105</TotalTime>
  <Words>445</Words>
  <Application>Microsoft Office PowerPoint</Application>
  <PresentationFormat>Widescreen</PresentationFormat>
  <Paragraphs>77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Arial Unicode MS</vt:lpstr>
      <vt:lpstr>Trebuchet MS</vt:lpstr>
      <vt:lpstr>Wingdings 3</vt:lpstr>
      <vt:lpstr>Facet</vt:lpstr>
      <vt:lpstr>Intelligent System for Breast Tumor Diagnosis Based on Clinical Features </vt:lpstr>
      <vt:lpstr>Problem Statement &amp; Motivation  </vt:lpstr>
      <vt:lpstr>Dataset Overview  </vt:lpstr>
      <vt:lpstr>      Feature Description Each feature is scored on a scale of 1-10, where higher values generally indicate higher malignancy risk.  </vt:lpstr>
      <vt:lpstr>PowerPoint Presentation</vt:lpstr>
      <vt:lpstr>🛠️ Implementation</vt:lpstr>
      <vt:lpstr>⚠️ Challenges and Limitations</vt:lpstr>
      <vt:lpstr>Exploratory Data Analysis</vt:lpstr>
      <vt:lpstr>Data Preprocessing  </vt:lpstr>
      <vt:lpstr>Correlation Analysis  </vt:lpstr>
      <vt:lpstr>Imbalance Classes Distribution</vt:lpstr>
      <vt:lpstr>Model Training &amp; Evaluation Process  </vt:lpstr>
      <vt:lpstr>Confusion Matrix</vt:lpstr>
      <vt:lpstr>PowerPoint Presentation</vt:lpstr>
      <vt:lpstr>    Models Performance Results  </vt:lpstr>
      <vt:lpstr>    Models Performance Results  </vt:lpstr>
      <vt:lpstr>🔮 Future Work</vt:lpstr>
      <vt:lpstr>✅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System for Breast Tumor Diagnosis Based on Clinical Features </dc:title>
  <dc:creator>Fares Alshamali</dc:creator>
  <cp:lastModifiedBy>Eng.Manal</cp:lastModifiedBy>
  <cp:revision>13</cp:revision>
  <dcterms:created xsi:type="dcterms:W3CDTF">2025-05-31T07:52:58Z</dcterms:created>
  <dcterms:modified xsi:type="dcterms:W3CDTF">2025-06-19T12:33:48Z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84e309d-6359-4367-9d03-e248bac620e6_Enabled">
    <vt:lpwstr>true</vt:lpwstr>
  </property>
  <property fmtid="{D5CDD505-2E9C-101B-9397-08002B2CF9AE}" pid="3" name="MSIP_Label_284e309d-6359-4367-9d03-e248bac620e6_SetDate">
    <vt:lpwstr>2025-06-19T12:26:18Z</vt:lpwstr>
  </property>
  <property fmtid="{D5CDD505-2E9C-101B-9397-08002B2CF9AE}" pid="4" name="MSIP_Label_284e309d-6359-4367-9d03-e248bac620e6_Method">
    <vt:lpwstr>Standard</vt:lpwstr>
  </property>
  <property fmtid="{D5CDD505-2E9C-101B-9397-08002B2CF9AE}" pid="5" name="MSIP_Label_284e309d-6359-4367-9d03-e248bac620e6_Name">
    <vt:lpwstr>defa4170-0d19-0005-0004-bc88714345d2</vt:lpwstr>
  </property>
  <property fmtid="{D5CDD505-2E9C-101B-9397-08002B2CF9AE}" pid="6" name="MSIP_Label_284e309d-6359-4367-9d03-e248bac620e6_SiteId">
    <vt:lpwstr>4bf7cbc0-71a9-4cae-9625-6dc374768c3e</vt:lpwstr>
  </property>
  <property fmtid="{D5CDD505-2E9C-101B-9397-08002B2CF9AE}" pid="7" name="MSIP_Label_284e309d-6359-4367-9d03-e248bac620e6_ActionId">
    <vt:lpwstr>86f2f918-c6c1-4b09-ab9e-9782b0c328f4</vt:lpwstr>
  </property>
  <property fmtid="{D5CDD505-2E9C-101B-9397-08002B2CF9AE}" pid="8" name="MSIP_Label_284e309d-6359-4367-9d03-e248bac620e6_ContentBits">
    <vt:lpwstr>0</vt:lpwstr>
  </property>
  <property fmtid="{D5CDD505-2E9C-101B-9397-08002B2CF9AE}" pid="9" name="MSIP_Label_284e309d-6359-4367-9d03-e248bac620e6_Tag">
    <vt:lpwstr>10, 3, 0, 1</vt:lpwstr>
  </property>
</Properties>
</file>